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6" r:id="rId1"/>
  </p:sldMasterIdLst>
  <p:notesMasterIdLst>
    <p:notesMasterId r:id="rId20"/>
  </p:notesMasterIdLst>
  <p:sldIdLst>
    <p:sldId id="256" r:id="rId2"/>
    <p:sldId id="257" r:id="rId3"/>
    <p:sldId id="258" r:id="rId4"/>
    <p:sldId id="268" r:id="rId5"/>
    <p:sldId id="262" r:id="rId6"/>
    <p:sldId id="265" r:id="rId7"/>
    <p:sldId id="271" r:id="rId8"/>
    <p:sldId id="274" r:id="rId9"/>
    <p:sldId id="275" r:id="rId10"/>
    <p:sldId id="276" r:id="rId11"/>
    <p:sldId id="273" r:id="rId12"/>
    <p:sldId id="277" r:id="rId13"/>
    <p:sldId id="261" r:id="rId14"/>
    <p:sldId id="266" r:id="rId15"/>
    <p:sldId id="267" r:id="rId16"/>
    <p:sldId id="270" r:id="rId17"/>
    <p:sldId id="272" r:id="rId18"/>
    <p:sldId id="263" r:id="rId19"/>
  </p:sldIdLst>
  <p:sldSz cx="18288000" cy="10287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28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07" autoAdjust="0"/>
  </p:normalViewPr>
  <p:slideViewPr>
    <p:cSldViewPr snapToObjects="1">
      <p:cViewPr varScale="1">
        <p:scale>
          <a:sx n="73" d="100"/>
          <a:sy n="73" d="100"/>
        </p:scale>
        <p:origin x="594" y="54"/>
      </p:cViewPr>
      <p:guideLst>
        <p:guide orient="horz" pos="2152"/>
        <p:guide pos="2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8B7D01-8DEA-4CF3-8800-67328E646892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0B3D9-11CF-469A-B9AA-BB1CD30273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69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0B3D9-11CF-469A-B9AA-BB1CD30273E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039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jpe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1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64855" y="1398905"/>
            <a:ext cx="1558925" cy="2051050"/>
          </a:xfrm>
          <a:custGeom>
            <a:avLst/>
            <a:gdLst/>
            <a:ahLst/>
            <a:cxnLst/>
            <a:rect l="l" t="t" r="r" b="b"/>
            <a:pathLst>
              <a:path w="1558712" h="2050937">
                <a:moveTo>
                  <a:pt x="0" y="0"/>
                </a:moveTo>
                <a:lnTo>
                  <a:pt x="1558712" y="0"/>
                </a:lnTo>
                <a:lnTo>
                  <a:pt x="1558712" y="2050936"/>
                </a:lnTo>
                <a:lnTo>
                  <a:pt x="0" y="205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:p14="http://schemas.microsoft.com/office/powerpoint/2010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8415020" y="3773805"/>
            <a:ext cx="1457960" cy="0"/>
          </a:xfrm>
          <a:prstGeom prst="line">
            <a:avLst/>
          </a:prstGeom>
          <a:ln w="9525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3609340" y="4097655"/>
            <a:ext cx="10547350" cy="191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59"/>
              </a:lnSpc>
              <a:spcBef>
                <a:spcPct val="0"/>
              </a:spcBef>
            </a:pPr>
            <a:r>
              <a:rPr lang="en-US" sz="12633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건강아지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13740" y="6628765"/>
            <a:ext cx="1485900" cy="13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4"/>
              </a:lnSpc>
            </a:pPr>
            <a:r>
              <a:rPr lang="ko-KR" altLang="en-US" sz="3020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백정화</a:t>
            </a:r>
            <a:endParaRPr lang="en-US" sz="3020" b="1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ctr">
              <a:lnSpc>
                <a:spcPts val="3624"/>
              </a:lnSpc>
            </a:pPr>
            <a:r>
              <a:rPr lang="ko-KR" altLang="en-US" sz="302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김태희</a:t>
            </a:r>
            <a:endParaRPr lang="en-US" sz="3020" b="1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ctr">
              <a:lnSpc>
                <a:spcPts val="3624"/>
              </a:lnSpc>
              <a:spcBef>
                <a:spcPct val="0"/>
              </a:spcBef>
            </a:pPr>
            <a:r>
              <a:rPr lang="en-US" sz="3020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최윤희</a:t>
            </a:r>
            <a:endParaRPr lang="en-US" sz="3020" b="1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2640" y="1400810"/>
            <a:ext cx="1829435" cy="83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91"/>
              </a:lnSpc>
            </a:pPr>
            <a:r>
              <a:rPr lang="en-US" sz="4922" b="1" spc="1240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목차</a:t>
            </a:r>
          </a:p>
        </p:txBody>
      </p:sp>
      <p:sp>
        <p:nvSpPr>
          <p:cNvPr id="3" name="AutoShape 3"/>
          <p:cNvSpPr/>
          <p:nvPr/>
        </p:nvSpPr>
        <p:spPr>
          <a:xfrm>
            <a:off x="3902075" y="1864995"/>
            <a:ext cx="12250420" cy="0"/>
          </a:xfrm>
          <a:prstGeom prst="line">
            <a:avLst/>
          </a:prstGeom>
          <a:ln w="28575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905000" y="2698750"/>
            <a:ext cx="7069455" cy="6668770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783590" lvl="1" indent="-391795" algn="l">
              <a:lnSpc>
                <a:spcPts val="6532"/>
              </a:lnSpc>
              <a:buFont typeface="+mj-lt"/>
              <a:buAutoNum type="arabicPeriod"/>
            </a:pPr>
            <a:r>
              <a:rPr lang="en-US" sz="3625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en-US" sz="3625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만들게</a:t>
            </a:r>
            <a:r>
              <a:rPr lang="en-US" sz="3625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된 </a:t>
            </a:r>
            <a:r>
              <a:rPr lang="en-US" sz="3625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계기</a:t>
            </a:r>
            <a:endParaRPr lang="ko-KR" altLang="en-US" sz="3625" dirty="0">
              <a:solidFill>
                <a:srgbClr val="000000"/>
              </a:solidFill>
              <a:latin typeface="윤고딕 Semi-Bold" charset="0"/>
              <a:ea typeface="윤고딕 Semi-Bold" charset="0"/>
              <a:cs typeface="윤고딕 Semi-Bold" charset="0"/>
            </a:endParaRPr>
          </a:p>
          <a:p>
            <a:pPr marL="783590" lvl="1" indent="-391795" algn="l">
              <a:lnSpc>
                <a:spcPts val="6532"/>
              </a:lnSpc>
              <a:buFont typeface="+mj-lt"/>
              <a:buAutoNum type="arabicPeriod"/>
            </a:pPr>
            <a:r>
              <a:rPr lang="ko-KR" altLang="en-US" sz="3625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개발 목표 </a:t>
            </a:r>
            <a:endParaRPr lang="en-US" altLang="ko-KR" sz="3625" spc="110" dirty="0">
              <a:solidFill>
                <a:srgbClr val="000000"/>
              </a:solidFill>
              <a:latin typeface="윤고딕 Semi-Bold" charset="0"/>
              <a:ea typeface="윤고딕 Semi-Bold" charset="0"/>
              <a:cs typeface="윤고딕 Semi-Bold" charset="0"/>
            </a:endParaRPr>
          </a:p>
          <a:p>
            <a:pPr marL="783590" lvl="1" indent="-391795" algn="l">
              <a:lnSpc>
                <a:spcPts val="6532"/>
              </a:lnSpc>
              <a:buFont typeface="+mj-lt"/>
              <a:buAutoNum type="arabicPeriod"/>
            </a:pPr>
            <a:r>
              <a:rPr lang="en-US" altLang="ko-KR" sz="3625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ko-KR" altLang="en-US" sz="3625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개발 계획</a:t>
            </a:r>
            <a:endParaRPr lang="en-US" altLang="ko-KR" sz="3625" spc="110" dirty="0">
              <a:solidFill>
                <a:srgbClr val="000000"/>
              </a:solidFill>
              <a:latin typeface="윤고딕 Semi-Bold" charset="0"/>
              <a:ea typeface="윤고딕 Semi-Bold" charset="0"/>
              <a:cs typeface="윤고딕 Semi-Bold" charset="0"/>
            </a:endParaRPr>
          </a:p>
          <a:p>
            <a:pPr marL="783590" lvl="1" indent="-391795" algn="l">
              <a:lnSpc>
                <a:spcPts val="6532"/>
              </a:lnSpc>
              <a:buFont typeface="+mj-lt"/>
              <a:buAutoNum type="arabicPeriod"/>
            </a:pPr>
            <a:r>
              <a:rPr lang="ko-KR" altLang="en-US" sz="3625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시스템 구성도</a:t>
            </a:r>
            <a:endParaRPr lang="en-US" sz="3625" spc="110" dirty="0">
              <a:solidFill>
                <a:srgbClr val="000000"/>
              </a:solidFill>
              <a:latin typeface="윤고딕 Semi-Bold" charset="0"/>
              <a:ea typeface="윤고딕 Semi-Bold" charset="0"/>
              <a:cs typeface="윤고딕 Semi-Bold" charset="0"/>
            </a:endParaRPr>
          </a:p>
          <a:p>
            <a:pPr marL="783590" lvl="1" indent="-391795" algn="l">
              <a:lnSpc>
                <a:spcPts val="6532"/>
              </a:lnSpc>
              <a:buFont typeface="+mj-lt"/>
              <a:buAutoNum type="arabicPeriod"/>
            </a:pPr>
            <a:r>
              <a:rPr lang="en-US" altLang="ko-KR" sz="3625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ko-KR" altLang="en-US" sz="3625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실용성</a:t>
            </a:r>
            <a:endParaRPr lang="en-US" sz="3625" spc="110" dirty="0">
              <a:solidFill>
                <a:srgbClr val="000000"/>
              </a:solidFill>
              <a:latin typeface="윤고딕 Semi-Bold" charset="0"/>
              <a:ea typeface="윤고딕 Semi-Bold" charset="0"/>
              <a:cs typeface="윤고딕 Semi-Bold" charset="0"/>
            </a:endParaRPr>
          </a:p>
          <a:p>
            <a:pPr marL="783590" lvl="1" indent="-391795" algn="l">
              <a:lnSpc>
                <a:spcPts val="6532"/>
              </a:lnSpc>
              <a:buFont typeface="+mj-lt"/>
              <a:buAutoNum type="arabicPeriod"/>
            </a:pPr>
            <a:r>
              <a:rPr lang="ko-KR" altLang="en-US" sz="3625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결론</a:t>
            </a:r>
            <a:endParaRPr lang="en-US" sz="3625" spc="110" dirty="0">
              <a:solidFill>
                <a:srgbClr val="000000"/>
              </a:solidFill>
              <a:latin typeface="윤고딕 Semi-Bold" charset="0"/>
              <a:ea typeface="윤고딕 Semi-Bold" charset="0"/>
              <a:cs typeface="윤고딕 Semi-Bold" charset="0"/>
            </a:endParaRPr>
          </a:p>
          <a:p>
            <a:pPr marL="783590" lvl="1" indent="-391795" algn="l">
              <a:lnSpc>
                <a:spcPts val="6532"/>
              </a:lnSpc>
              <a:buFont typeface="+mj-lt"/>
              <a:buAutoNum type="arabicPeriod"/>
            </a:pPr>
            <a:r>
              <a:rPr lang="ko-KR" altLang="en-US" sz="3625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참고 문헌</a:t>
            </a:r>
          </a:p>
          <a:p>
            <a:pPr marL="783590" lvl="1" indent="-391795" algn="l">
              <a:lnSpc>
                <a:spcPts val="6532"/>
              </a:lnSpc>
              <a:buFont typeface="+mj-lt"/>
              <a:buAutoNum type="arabicPeriod"/>
            </a:pPr>
            <a:r>
              <a:rPr lang="en-US" sz="3625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ko-KR" altLang="en-US" sz="3625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시연 </a:t>
            </a:r>
            <a:endParaRPr lang="ko-KR" altLang="en-US" sz="3625" dirty="0">
              <a:solidFill>
                <a:srgbClr val="000000"/>
              </a:solidFill>
              <a:latin typeface="윤고딕 Semi-Bold" charset="0"/>
              <a:ea typeface="윤고딕 Semi-Bold" charset="0"/>
              <a:cs typeface="윤고딕 Semi-Bol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576705"/>
            <a:ext cx="62998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</a:pPr>
            <a:r>
              <a:rPr lang="en-US" sz="4500" b="1" spc="157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만들게 된 계기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24000" y="2543175"/>
            <a:ext cx="14478000" cy="5001260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lvl="1">
              <a:lnSpc>
                <a:spcPts val="6480"/>
              </a:lnSpc>
            </a:pP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건강</a:t>
            </a: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애플리케이션을</a:t>
            </a: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사용</a:t>
            </a: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시 </a:t>
            </a:r>
          </a:p>
          <a:p>
            <a:pPr marL="0" lvl="1">
              <a:lnSpc>
                <a:spcPts val="6480"/>
              </a:lnSpc>
            </a:pP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한번에</a:t>
            </a:r>
            <a:r>
              <a:rPr lang="ko-KR" altLang="en-US" sz="360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모두</a:t>
            </a: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관리할</a:t>
            </a: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수 </a:t>
            </a: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있는</a:t>
            </a: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기능이</a:t>
            </a: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아직</a:t>
            </a: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없어</a:t>
            </a: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불편함을</a:t>
            </a: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느낌</a:t>
            </a: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. </a:t>
            </a:r>
          </a:p>
          <a:p>
            <a:pPr marL="0" lvl="1">
              <a:lnSpc>
                <a:spcPts val="6480"/>
              </a:lnSpc>
            </a:pPr>
            <a:r>
              <a:rPr lang="ko-KR" altLang="en-US" sz="3625" spc="110" dirty="0">
                <a:solidFill>
                  <a:srgbClr val="000000"/>
                </a:solidFill>
                <a:latin typeface="윤고딕 Semi-Bold" charset="0"/>
                <a:ea typeface="윤고딕 Semi-Bold" charset="0"/>
              </a:rPr>
              <a:t>병에 관한 분야를 자가진단을 통해 예방 하고 자신의 몸 상태를 </a:t>
            </a:r>
            <a:r>
              <a:rPr lang="ko-KR" altLang="en-US" sz="3625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</a:rPr>
              <a:t>아바타를</a:t>
            </a:r>
            <a:r>
              <a:rPr lang="ko-KR" altLang="en-US" sz="3625" spc="110" dirty="0">
                <a:solidFill>
                  <a:srgbClr val="000000"/>
                </a:solidFill>
                <a:latin typeface="윤고딕 Semi-Bold" charset="0"/>
                <a:ea typeface="윤고딕 Semi-Bold" charset="0"/>
              </a:rPr>
              <a:t> 통해 전체적으로 쉽게 확인</a:t>
            </a:r>
            <a:endParaRPr lang="en-US" altLang="ko-KR" sz="3600" spc="110" dirty="0">
              <a:solidFill>
                <a:srgbClr val="000000"/>
              </a:solidFill>
              <a:latin typeface="윤고딕 Semi-Bold" charset="0"/>
              <a:ea typeface="윤고딕 Semi-Bold" charset="0"/>
            </a:endParaRPr>
          </a:p>
          <a:p>
            <a:pPr marL="0" lvl="1">
              <a:lnSpc>
                <a:spcPts val="6480"/>
              </a:lnSpc>
            </a:pPr>
            <a:endParaRPr lang="ko-KR" altLang="en-US" sz="3600" dirty="0">
              <a:solidFill>
                <a:srgbClr val="000000"/>
              </a:solidFill>
              <a:latin typeface="윤고딕 Semi-Bold" charset="0"/>
              <a:ea typeface="윤고딕 Semi-Bold" charset="0"/>
              <a:cs typeface="윤고딕 Semi-Bold" charset="0"/>
            </a:endParaRPr>
          </a:p>
          <a:p>
            <a:pPr marL="0" indent="0" algn="l">
              <a:lnSpc>
                <a:spcPts val="6480"/>
              </a:lnSpc>
              <a:buFontTx/>
              <a:buNone/>
            </a:pP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“</a:t>
            </a:r>
            <a:r>
              <a:rPr lang="ko-KR" alt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애착가는</a:t>
            </a:r>
            <a:r>
              <a:rPr lang="ko-KR" alt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종합 </a:t>
            </a: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건강</a:t>
            </a: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어플이</a:t>
            </a: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 </a:t>
            </a:r>
            <a:r>
              <a:rPr lang="en-US" sz="3600" spc="110" dirty="0" err="1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없다</a:t>
            </a:r>
            <a:r>
              <a:rPr lang="en-US" sz="3600" spc="11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"</a:t>
            </a:r>
            <a:endParaRPr lang="ko-KR" altLang="en-US" sz="3600" dirty="0">
              <a:solidFill>
                <a:srgbClr val="000000"/>
              </a:solidFill>
              <a:latin typeface="윤고딕 Semi-Bold" charset="0"/>
              <a:ea typeface="윤고딕 Semi-Bold" charset="0"/>
              <a:cs typeface="윤고딕 Semi-Bold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139690" y="1981835"/>
            <a:ext cx="10071100" cy="23495"/>
          </a:xfrm>
          <a:prstGeom prst="line">
            <a:avLst/>
          </a:prstGeom>
          <a:ln w="47625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5700375" y="6549390"/>
            <a:ext cx="1558925" cy="2051050"/>
          </a:xfrm>
          <a:custGeom>
            <a:avLst/>
            <a:gdLst/>
            <a:ahLst/>
            <a:cxnLst/>
            <a:rect l="l" t="t" r="r" b="b"/>
            <a:pathLst>
              <a:path w="1558712" h="2050937">
                <a:moveTo>
                  <a:pt x="0" y="0"/>
                </a:moveTo>
                <a:lnTo>
                  <a:pt x="1558712" y="0"/>
                </a:lnTo>
                <a:lnTo>
                  <a:pt x="1558712" y="2050937"/>
                </a:lnTo>
                <a:lnTo>
                  <a:pt x="0" y="205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:p14="http://schemas.microsoft.com/office/powerpoint/2010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>
            <a:off x="3872230" y="1371600"/>
            <a:ext cx="11288395" cy="0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2"/>
          <p:cNvSpPr txBox="1"/>
          <p:nvPr/>
        </p:nvSpPr>
        <p:spPr>
          <a:xfrm>
            <a:off x="1219200" y="913765"/>
            <a:ext cx="6299835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</a:pPr>
            <a:r>
              <a:rPr lang="ko-KR" altLang="en-US" sz="4500" b="1" spc="157" dirty="0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개발 목표</a:t>
            </a:r>
            <a:endParaRPr lang="en-US" sz="4500" b="1" spc="157" dirty="0">
              <a:solidFill>
                <a:srgbClr val="004AAD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33500" y="1849755"/>
            <a:ext cx="14630400" cy="1384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사용자가 자신의 건강상태를 기입하게 하고</a:t>
            </a:r>
            <a:r>
              <a:rPr lang="en-US" altLang="ko-KR" sz="2800" dirty="0"/>
              <a:t>, </a:t>
            </a:r>
          </a:p>
          <a:p>
            <a:r>
              <a:rPr lang="ko-KR" altLang="en-US" sz="2800" dirty="0"/>
              <a:t>기입된 것을 토대로 자신의 건강상태를 알게 함</a:t>
            </a:r>
            <a:r>
              <a:rPr lang="en-US" altLang="ko-KR" sz="2800" dirty="0"/>
              <a:t>.</a:t>
            </a:r>
          </a:p>
          <a:p>
            <a:r>
              <a:rPr lang="en-US" altLang="ko-KR" sz="2800" dirty="0"/>
              <a:t>“</a:t>
            </a:r>
            <a:r>
              <a:rPr lang="ko-KR" altLang="en-US" sz="2800" dirty="0"/>
              <a:t>자신의 건강상태와 연동한 캐릭터를 건강하게 만드는 것</a:t>
            </a:r>
            <a:r>
              <a:rPr lang="en-US" altLang="ko-KR" sz="2800" dirty="0"/>
              <a:t>”</a:t>
            </a:r>
            <a:r>
              <a:rPr lang="ko-KR" altLang="en-US" sz="2800" dirty="0"/>
              <a:t>을 목표로 함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275" y="3322320"/>
            <a:ext cx="3933825" cy="59531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310" y="3147695"/>
            <a:ext cx="3819525" cy="59817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681095"/>
            <a:ext cx="3352800" cy="5581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38400" y="9436100"/>
            <a:ext cx="220980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&lt;</a:t>
            </a:r>
            <a:r>
              <a:rPr lang="ko-KR" altLang="en-US" sz="2000" dirty="0"/>
              <a:t>건강한 상태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1430000" y="9472295"/>
            <a:ext cx="457200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&lt;</a:t>
            </a:r>
            <a:r>
              <a:rPr lang="ko-KR" altLang="en-US" sz="2000" dirty="0"/>
              <a:t>건강하지 못한 상태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9025" y="2986405"/>
            <a:ext cx="4030345" cy="627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00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62998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</a:pPr>
            <a:r>
              <a:rPr lang="en-US" sz="4500" b="1" spc="157" dirty="0" err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개발</a:t>
            </a:r>
            <a:r>
              <a:rPr lang="en-US" sz="4500" b="1" spc="157" dirty="0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4500" b="1" spc="157" dirty="0" err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계획</a:t>
            </a:r>
            <a:endParaRPr lang="en-US" sz="4500" b="1" spc="157" dirty="0">
              <a:solidFill>
                <a:srgbClr val="004AAD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3872230" y="1371600"/>
            <a:ext cx="11288395" cy="0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모서리가 둥근 직사각형 11"/>
          <p:cNvSpPr/>
          <p:nvPr/>
        </p:nvSpPr>
        <p:spPr>
          <a:xfrm>
            <a:off x="457200" y="2867660"/>
            <a:ext cx="3886200" cy="69240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4796155" y="2867660"/>
            <a:ext cx="3742690" cy="7010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8991600" y="2860675"/>
            <a:ext cx="4038600" cy="7010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13487400" y="2860675"/>
            <a:ext cx="4191000" cy="7010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724025" y="3290570"/>
            <a:ext cx="284353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9</a:t>
            </a:r>
            <a:r>
              <a:rPr lang="ko-KR" altLang="en-US" sz="4400" dirty="0"/>
              <a:t>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10560"/>
            <a:ext cx="284353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10</a:t>
            </a:r>
            <a:r>
              <a:rPr lang="ko-KR" altLang="en-US" sz="4400" dirty="0"/>
              <a:t>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08590" y="3165475"/>
            <a:ext cx="284353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11</a:t>
            </a:r>
            <a:r>
              <a:rPr lang="ko-KR" altLang="en-US" sz="4400" dirty="0"/>
              <a:t>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34870" y="3210560"/>
            <a:ext cx="284353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12</a:t>
            </a:r>
            <a:r>
              <a:rPr lang="ko-KR" altLang="en-US" sz="4400" dirty="0"/>
              <a:t>월</a:t>
            </a:r>
          </a:p>
        </p:txBody>
      </p:sp>
      <p:sp>
        <p:nvSpPr>
          <p:cNvPr id="20" name="모서리가 둥근 직사각형 19"/>
          <p:cNvSpPr/>
          <p:nvPr/>
        </p:nvSpPr>
        <p:spPr>
          <a:xfrm>
            <a:off x="1032510" y="4378325"/>
            <a:ext cx="3009900" cy="132397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UI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1032510" y="6061075"/>
            <a:ext cx="3009900" cy="134493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Devops</a:t>
            </a:r>
            <a:r>
              <a:rPr lang="en-US" altLang="ko-KR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CI CD Pipeline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1028700" y="7724140"/>
            <a:ext cx="3009900" cy="138239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AWS </a:t>
            </a:r>
            <a:r>
              <a:rPr lang="ko-KR" altLang="en-US" dirty="0">
                <a:solidFill>
                  <a:schemeClr val="tx1"/>
                </a:solidFill>
              </a:rPr>
              <a:t>호스팅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DNS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203825" y="4391025"/>
            <a:ext cx="7211695" cy="132397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토큰 추가</a:t>
            </a: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175885" y="6154420"/>
            <a:ext cx="3009900" cy="134493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AI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데이터 셋 탐색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및 계획 수립</a:t>
            </a:r>
          </a:p>
        </p:txBody>
      </p:sp>
      <p:sp>
        <p:nvSpPr>
          <p:cNvPr id="25" name="모서리가 둥근 직사각형 24"/>
          <p:cNvSpPr/>
          <p:nvPr/>
        </p:nvSpPr>
        <p:spPr>
          <a:xfrm>
            <a:off x="5298440" y="7835265"/>
            <a:ext cx="6969760" cy="138239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API, </a:t>
            </a:r>
            <a:r>
              <a:rPr lang="ko-KR" altLang="en-US" dirty="0">
                <a:solidFill>
                  <a:schemeClr val="tx1"/>
                </a:solidFill>
              </a:rPr>
              <a:t>데이터베이스</a:t>
            </a:r>
          </a:p>
        </p:txBody>
      </p:sp>
      <p:sp>
        <p:nvSpPr>
          <p:cNvPr id="27" name="모서리가 둥근 직사각형 26"/>
          <p:cNvSpPr/>
          <p:nvPr/>
        </p:nvSpPr>
        <p:spPr>
          <a:xfrm>
            <a:off x="9396730" y="6205855"/>
            <a:ext cx="2966085" cy="134493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AI </a:t>
            </a:r>
            <a:r>
              <a:rPr lang="ko-KR" altLang="en-US" dirty="0">
                <a:solidFill>
                  <a:schemeClr val="tx1"/>
                </a:solidFill>
              </a:rPr>
              <a:t>완성</a:t>
            </a:r>
          </a:p>
        </p:txBody>
      </p:sp>
      <p:sp>
        <p:nvSpPr>
          <p:cNvPr id="4" name="오른쪽 화살표 3"/>
          <p:cNvSpPr/>
          <p:nvPr/>
        </p:nvSpPr>
        <p:spPr>
          <a:xfrm>
            <a:off x="7823200" y="6541770"/>
            <a:ext cx="1196340" cy="672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오른쪽 화살표 4"/>
          <p:cNvSpPr/>
          <p:nvPr/>
        </p:nvSpPr>
        <p:spPr>
          <a:xfrm rot="1899966">
            <a:off x="4032250" y="6837680"/>
            <a:ext cx="1192530" cy="7543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오른쪽 화살표 30"/>
          <p:cNvSpPr/>
          <p:nvPr/>
        </p:nvSpPr>
        <p:spPr>
          <a:xfrm>
            <a:off x="12332970" y="4716145"/>
            <a:ext cx="1525905" cy="7639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오른쪽 화살표 31"/>
          <p:cNvSpPr/>
          <p:nvPr/>
        </p:nvSpPr>
        <p:spPr>
          <a:xfrm rot="18908484">
            <a:off x="11875135" y="7108825"/>
            <a:ext cx="3480435" cy="7639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오른쪽 화살표 32"/>
          <p:cNvSpPr/>
          <p:nvPr/>
        </p:nvSpPr>
        <p:spPr>
          <a:xfrm rot="20050387">
            <a:off x="12457430" y="5952490"/>
            <a:ext cx="1934845" cy="7639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오른쪽 화살표 33"/>
          <p:cNvSpPr/>
          <p:nvPr/>
        </p:nvSpPr>
        <p:spPr>
          <a:xfrm>
            <a:off x="4110355" y="4596765"/>
            <a:ext cx="1090930" cy="7931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오른쪽 화살표 34"/>
          <p:cNvSpPr/>
          <p:nvPr/>
        </p:nvSpPr>
        <p:spPr>
          <a:xfrm>
            <a:off x="4105910" y="8006080"/>
            <a:ext cx="1193165" cy="876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13924915" y="4405630"/>
            <a:ext cx="3315335" cy="129603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완성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13618845" y="2562225"/>
            <a:ext cx="4333240" cy="66960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14312265" y="6536690"/>
            <a:ext cx="3452495" cy="23406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14869160" y="3497580"/>
            <a:ext cx="2383790" cy="18834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835660" y="728345"/>
            <a:ext cx="6299835" cy="74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</a:pPr>
            <a:r>
              <a:rPr kumimoji="0" lang="ko-KR" altLang="en-US" sz="4800" b="1" i="0" u="none" strike="noStrike" kern="1200" cap="none" spc="157" normalizeH="0" baseline="0" noProof="0" dirty="0">
                <a:ln>
                  <a:noFill/>
                </a:ln>
                <a:solidFill>
                  <a:srgbClr val="004AAD"/>
                </a:solidFill>
                <a:effectLst/>
                <a:uLnTx/>
                <a:uFillTx/>
                <a:latin typeface="Gotham Bold"/>
                <a:ea typeface="Gotham Bold"/>
                <a:cs typeface="Gotham Bold"/>
                <a:sym typeface="Gotham Bold"/>
              </a:rPr>
              <a:t>시스템 구성도</a:t>
            </a:r>
            <a:endParaRPr kumimoji="0" lang="en-US" sz="4800" b="1" i="0" u="none" strike="noStrike" kern="1200" cap="none" spc="157" normalizeH="0" baseline="0" noProof="0" dirty="0">
              <a:ln>
                <a:noFill/>
              </a:ln>
              <a:solidFill>
                <a:srgbClr val="004AAD"/>
              </a:solidFill>
              <a:effectLst/>
              <a:uLnTx/>
              <a:uFillTx/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15" name="AutoShape 15"/>
          <p:cNvSpPr/>
          <p:nvPr/>
        </p:nvSpPr>
        <p:spPr>
          <a:xfrm flipV="1">
            <a:off x="5029200" y="1076960"/>
            <a:ext cx="11125200" cy="0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Freeform 10"/>
          <p:cNvSpPr/>
          <p:nvPr/>
        </p:nvSpPr>
        <p:spPr>
          <a:xfrm>
            <a:off x="1256665" y="5297170"/>
            <a:ext cx="3480435" cy="1423035"/>
          </a:xfrm>
          <a:custGeom>
            <a:avLst/>
            <a:gdLst/>
            <a:ahLst/>
            <a:cxnLst/>
            <a:rect l="l" t="t" r="r" b="b"/>
            <a:pathLst>
              <a:path w="4259186" h="1656829">
                <a:moveTo>
                  <a:pt x="0" y="0"/>
                </a:moveTo>
                <a:lnTo>
                  <a:pt x="4259185" y="0"/>
                </a:lnTo>
                <a:lnTo>
                  <a:pt x="4259185" y="1656829"/>
                </a:lnTo>
                <a:lnTo>
                  <a:pt x="0" y="1656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76" t="-44826" r="-22718" b="-35652"/>
            </a:stretch>
          </a:blipFill>
        </p:spPr>
      </p:sp>
      <p:sp>
        <p:nvSpPr>
          <p:cNvPr id="25" name="TextBox 14"/>
          <p:cNvSpPr txBox="1">
            <a:spLocks/>
          </p:cNvSpPr>
          <p:nvPr/>
        </p:nvSpPr>
        <p:spPr>
          <a:xfrm>
            <a:off x="924560" y="1584960"/>
            <a:ext cx="2228215" cy="772160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just" defTabSz="914400" rtl="0" eaLnBrk="1" fontAlgn="auto" latinLnBrk="0" hangingPunct="1">
              <a:lnSpc>
                <a:spcPts val="6299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sz="4500" b="1" i="0" strike="noStrike" cap="none" spc="160" dirty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FRONT</a:t>
            </a:r>
            <a:endParaRPr lang="ko-KR" altLang="en-US" sz="4500" b="1" i="0" strike="noStrike" cap="none" dirty="0">
              <a:ln w="9525" cap="flat" cmpd="sng">
                <a:noFill/>
                <a:prstDash/>
              </a:ln>
              <a:solidFill>
                <a:srgbClr val="004AAD"/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  <p:sp>
        <p:nvSpPr>
          <p:cNvPr id="26" name="Freeform 3"/>
          <p:cNvSpPr/>
          <p:nvPr/>
        </p:nvSpPr>
        <p:spPr>
          <a:xfrm>
            <a:off x="1264285" y="3645535"/>
            <a:ext cx="3556000" cy="1186815"/>
          </a:xfrm>
          <a:custGeom>
            <a:avLst/>
            <a:gdLst/>
            <a:ahLst/>
            <a:cxnLst/>
            <a:rect l="l" t="t" r="r" b="b"/>
            <a:pathLst>
              <a:path w="3059810" h="951434">
                <a:moveTo>
                  <a:pt x="0" y="0"/>
                </a:moveTo>
                <a:lnTo>
                  <a:pt x="3059811" y="0"/>
                </a:lnTo>
                <a:lnTo>
                  <a:pt x="3059811" y="951434"/>
                </a:lnTo>
                <a:lnTo>
                  <a:pt x="0" y="951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5855" y="7190740"/>
            <a:ext cx="1915795" cy="1274445"/>
          </a:xfrm>
          <a:prstGeom prst="rect">
            <a:avLst/>
          </a:prstGeom>
        </p:spPr>
      </p:pic>
      <p:sp>
        <p:nvSpPr>
          <p:cNvPr id="46" name="TextBox 13"/>
          <p:cNvSpPr txBox="1"/>
          <p:nvPr/>
        </p:nvSpPr>
        <p:spPr>
          <a:xfrm>
            <a:off x="13154025" y="1814830"/>
            <a:ext cx="1811655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spc="157" dirty="0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BACK</a:t>
            </a:r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3042285" y="1785620"/>
            <a:ext cx="4772660" cy="5238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2800"/>
              <a:t>백정화</a:t>
            </a:r>
            <a:r>
              <a:rPr lang="en-US" altLang="ko-KR" sz="2800"/>
              <a:t>, </a:t>
            </a:r>
            <a:r>
              <a:rPr lang="ko-KR" altLang="en-US" sz="2800"/>
              <a:t>최윤희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69160" y="1966595"/>
            <a:ext cx="3923665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 </a:t>
            </a:r>
            <a:r>
              <a:rPr lang="ko-KR" altLang="en-US" sz="2800" dirty="0"/>
              <a:t>최윤희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435" y="7190740"/>
            <a:ext cx="2999105" cy="1499870"/>
          </a:xfrm>
          <a:prstGeom prst="rect">
            <a:avLst/>
          </a:prstGeom>
        </p:spPr>
      </p:pic>
      <p:sp>
        <p:nvSpPr>
          <p:cNvPr id="19" name="TextBox 13"/>
          <p:cNvSpPr txBox="1"/>
          <p:nvPr/>
        </p:nvSpPr>
        <p:spPr>
          <a:xfrm>
            <a:off x="11203940" y="2141855"/>
            <a:ext cx="1466850" cy="807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spc="157" dirty="0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API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10501630" y="2790190"/>
            <a:ext cx="3405505" cy="4582160"/>
          </a:xfrm>
          <a:prstGeom prst="roundRect">
            <a:avLst/>
          </a:prstGeom>
          <a:solidFill>
            <a:srgbClr val="F6F6F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1070" y="4855210"/>
            <a:ext cx="2067560" cy="1014095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762000" y="2498090"/>
            <a:ext cx="4511040" cy="75222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2155" y="3526790"/>
            <a:ext cx="2585085" cy="165163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2205" y="5774055"/>
            <a:ext cx="1732280" cy="1129665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9770" y="5970270"/>
            <a:ext cx="2741295" cy="1438910"/>
          </a:xfrm>
          <a:prstGeom prst="rect">
            <a:avLst/>
          </a:prstGeom>
        </p:spPr>
      </p:pic>
      <p:sp>
        <p:nvSpPr>
          <p:cNvPr id="22" name="왼쪽/오른쪽 화살표 21"/>
          <p:cNvSpPr/>
          <p:nvPr/>
        </p:nvSpPr>
        <p:spPr>
          <a:xfrm>
            <a:off x="6142990" y="3526790"/>
            <a:ext cx="3525520" cy="889000"/>
          </a:xfrm>
          <a:prstGeom prst="left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U자형 화살표 4"/>
          <p:cNvSpPr/>
          <p:nvPr/>
        </p:nvSpPr>
        <p:spPr>
          <a:xfrm>
            <a:off x="12994005" y="2609850"/>
            <a:ext cx="2457450" cy="1035685"/>
          </a:xfrm>
          <a:prstGeom prst="uturnArrow">
            <a:avLst>
              <a:gd name="adj1" fmla="val 18377"/>
              <a:gd name="adj2" fmla="val 25000"/>
              <a:gd name="adj3" fmla="val 27838"/>
              <a:gd name="adj4" fmla="val 43750"/>
              <a:gd name="adj5" fmla="val 7973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11895" y="6215380"/>
            <a:ext cx="1520190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김태희</a:t>
            </a:r>
          </a:p>
        </p:txBody>
      </p:sp>
      <p:sp useBgFill="1">
        <p:nvSpPr>
          <p:cNvPr id="6" name="모서리가 둥근 직사각형 5"/>
          <p:cNvSpPr/>
          <p:nvPr/>
        </p:nvSpPr>
        <p:spPr>
          <a:xfrm>
            <a:off x="4337685" y="6922770"/>
            <a:ext cx="6207760" cy="30854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13"/>
          <p:cNvSpPr txBox="1"/>
          <p:nvPr/>
        </p:nvSpPr>
        <p:spPr>
          <a:xfrm>
            <a:off x="5532120" y="6112510"/>
            <a:ext cx="3162935" cy="717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000" b="1" spc="157" dirty="0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AI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8985" y="3227070"/>
            <a:ext cx="2603500" cy="133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670" y="7757795"/>
            <a:ext cx="2616835" cy="130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/Users/gkimt/AppData/Roaming/PolarisOffice/ETemp/292_10644360/image17.png"/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35925" y="7625715"/>
            <a:ext cx="2223135" cy="1250950"/>
          </a:xfrm>
          <a:prstGeom prst="rect">
            <a:avLst/>
          </a:prstGeom>
          <a:noFill/>
        </p:spPr>
      </p:pic>
      <p:pic>
        <p:nvPicPr>
          <p:cNvPr id="2055" name="그림 1" descr="C:/Users/gkimt/AppData/Roaming/PolarisOffice/ETemp/292_10644360/fImage3179819041.jpe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965" y="7704455"/>
            <a:ext cx="1235075" cy="11728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20194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990600" y="2324100"/>
            <a:ext cx="16841470" cy="44907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fontAlgn="base">
              <a:buFontTx/>
              <a:buNone/>
            </a:pPr>
            <a:endParaRPr lang="ko-KR" altLang="en-US" sz="4400"/>
          </a:p>
          <a:p>
            <a:pPr marL="0" indent="0" fontAlgn="base">
              <a:buFontTx/>
              <a:buNone/>
            </a:pPr>
            <a:r>
              <a:rPr lang="en-US" altLang="ko-KR" sz="3200"/>
              <a:t>[</a:t>
            </a:r>
            <a:r>
              <a:rPr lang="ko-KR" altLang="en-US" sz="3200"/>
              <a:t>해결 할 요소</a:t>
            </a:r>
            <a:r>
              <a:rPr lang="en-US" altLang="ko-KR" sz="3200"/>
              <a:t>]</a:t>
            </a:r>
            <a:r>
              <a:rPr lang="ko-KR" altLang="en-US" sz="3200"/>
              <a:t> </a:t>
            </a:r>
          </a:p>
          <a:p>
            <a:pPr marL="0" indent="0" fontAlgn="base">
              <a:buFontTx/>
              <a:buNone/>
            </a:pPr>
            <a:r>
              <a:rPr lang="ko-KR" altLang="ko-KR" sz="3200"/>
              <a:t>실제 질환별 증상과의 오차를 감안하여 의심 질환 출력</a:t>
            </a:r>
            <a:endParaRPr lang="ko-KR" altLang="en-US" sz="3200"/>
          </a:p>
          <a:p>
            <a:pPr marL="0" indent="0" fontAlgn="base">
              <a:buFontTx/>
              <a:buNone/>
            </a:pPr>
            <a:r>
              <a:rPr lang="ko-KR" altLang="en-US" sz="3200"/>
              <a:t>2개 이상의 질환을 가지고 있을 가능성 고려</a:t>
            </a:r>
          </a:p>
          <a:p>
            <a:pPr marL="0" indent="0" fontAlgn="base">
              <a:buFontTx/>
              <a:buNone/>
            </a:pPr>
            <a:endParaRPr lang="ko-KR" altLang="en-US" sz="3200"/>
          </a:p>
          <a:p>
            <a:pPr marL="0" indent="0" fontAlgn="base">
              <a:buFontTx/>
              <a:buNone/>
            </a:pPr>
            <a:r>
              <a:rPr lang="en-US" altLang="ko-KR" sz="3200"/>
              <a:t>[</a:t>
            </a:r>
            <a:r>
              <a:rPr lang="ko-KR" altLang="en-US" sz="3200"/>
              <a:t>추가 사항</a:t>
            </a:r>
            <a:r>
              <a:rPr lang="en-US" altLang="ko-KR" sz="3200"/>
              <a:t>]</a:t>
            </a:r>
            <a:endParaRPr lang="ko-KR" altLang="en-US" sz="3200"/>
          </a:p>
          <a:p>
            <a:pPr marL="0" indent="0" fontAlgn="base">
              <a:buFontTx/>
              <a:buNone/>
            </a:pPr>
            <a:r>
              <a:rPr lang="en-US" altLang="ko-KR" sz="3200"/>
              <a:t>1.</a:t>
            </a:r>
            <a:r>
              <a:rPr lang="ko-KR" altLang="en-US" sz="3200"/>
              <a:t>증상 입력시 키워드 인식 후 데이터 전처리 예시</a:t>
            </a:r>
            <a:r>
              <a:rPr lang="en-US" altLang="ko-KR" sz="3200"/>
              <a:t>: </a:t>
            </a:r>
            <a:r>
              <a:rPr lang="ko-KR" altLang="en-US" sz="3200"/>
              <a:t>머리 아픔 </a:t>
            </a:r>
            <a:r>
              <a:rPr lang="en-US" altLang="ko-KR" sz="3200"/>
              <a:t>-&gt; </a:t>
            </a:r>
            <a:r>
              <a:rPr lang="ko-KR" altLang="en-US" sz="3200"/>
              <a:t>두통 </a:t>
            </a:r>
            <a:r>
              <a:rPr lang="en-US" altLang="ko-KR" sz="3200"/>
              <a:t>(</a:t>
            </a:r>
            <a:r>
              <a:rPr lang="ko-KR" altLang="en-US" sz="3200"/>
              <a:t>언어 쪽 관련 다른 </a:t>
            </a:r>
            <a:r>
              <a:rPr lang="en-US" altLang="ko-KR" sz="3200"/>
              <a:t>ai </a:t>
            </a:r>
            <a:r>
              <a:rPr lang="ko-KR" altLang="en-US" sz="3200"/>
              <a:t>사용</a:t>
            </a:r>
            <a:r>
              <a:rPr lang="en-US" altLang="ko-KR" sz="3200"/>
              <a:t>)</a:t>
            </a:r>
            <a:endParaRPr lang="ko-KR" altLang="en-US" sz="3200"/>
          </a:p>
          <a:p>
            <a:pPr marL="0" indent="0" fontAlgn="base">
              <a:buFontTx/>
              <a:buNone/>
            </a:pPr>
            <a:endParaRPr lang="ko-KR" altLang="en-US" sz="3200"/>
          </a:p>
          <a:p>
            <a:pPr marL="0" indent="0">
              <a:buFontTx/>
              <a:buNone/>
            </a:pP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4EB16-364F-4484-9A5B-9384A05D6757}"/>
              </a:ext>
            </a:extLst>
          </p:cNvPr>
          <p:cNvSpPr txBox="1"/>
          <p:nvPr/>
        </p:nvSpPr>
        <p:spPr>
          <a:xfrm>
            <a:off x="960755" y="936625"/>
            <a:ext cx="11460480" cy="8915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>
              <a:lnSpc>
                <a:spcPts val="6299"/>
              </a:lnSpc>
              <a:buFontTx/>
              <a:buNone/>
            </a:pPr>
            <a:r>
              <a:rPr lang="ko-KR" altLang="en-US" sz="4400" b="1" i="0" strike="noStrike" cap="none" spc="16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규칙 기반 시스템 </a:t>
            </a:r>
            <a:r>
              <a:rPr lang="en-US" altLang="ko-KR" sz="4400" b="1" i="0" strike="noStrike" cap="none" spc="16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Rule – based system</a:t>
            </a:r>
            <a:endParaRPr lang="ko-KR" altLang="en-US" sz="4400" b="1" i="0" strike="noStrike" cap="none">
              <a:ln w="9525" cap="flat" cmpd="sng">
                <a:noFill/>
                <a:prstDash/>
              </a:ln>
              <a:solidFill>
                <a:srgbClr val="004AAD"/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  <p:cxnSp>
        <p:nvCxnSpPr>
          <p:cNvPr id="8" name="AutoShape 15"/>
          <p:cNvCxnSpPr/>
          <p:nvPr/>
        </p:nvCxnSpPr>
        <p:spPr>
          <a:xfrm flipV="1">
            <a:off x="11671300" y="1477010"/>
            <a:ext cx="5897880" cy="635"/>
          </a:xfrm>
          <a:prstGeom prst="line">
            <a:avLst/>
          </a:prstGeom>
          <a:ln w="38100" cap="flat" cmpd="sng">
            <a:solidFill>
              <a:srgbClr val="004AAD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29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 txBox="1">
            <a:spLocks/>
          </p:cNvSpPr>
          <p:nvPr/>
        </p:nvSpPr>
        <p:spPr>
          <a:xfrm>
            <a:off x="987425" y="976630"/>
            <a:ext cx="11460480" cy="8915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>
              <a:lnSpc>
                <a:spcPts val="6299"/>
              </a:lnSpc>
              <a:buFontTx/>
              <a:buNone/>
            </a:pPr>
            <a:r>
              <a:rPr lang="ko-KR" altLang="ko-KR" sz="4400" b="1" i="0" strike="noStrike" cap="none" spc="16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작동 알고리즘</a:t>
            </a:r>
            <a:endParaRPr lang="ko-KR" altLang="en-US" sz="4400" b="1" i="0" strike="noStrike" cap="none">
              <a:ln w="9525" cap="flat" cmpd="sng">
                <a:noFill/>
                <a:prstDash/>
              </a:ln>
              <a:solidFill>
                <a:srgbClr val="004AAD"/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  <p:cxnSp>
        <p:nvCxnSpPr>
          <p:cNvPr id="8" name="Rect 0"/>
          <p:cNvCxnSpPr/>
          <p:nvPr/>
        </p:nvCxnSpPr>
        <p:spPr>
          <a:xfrm flipV="1">
            <a:off x="5005705" y="1409700"/>
            <a:ext cx="12308840" cy="27305"/>
          </a:xfrm>
          <a:prstGeom prst="line">
            <a:avLst/>
          </a:prstGeom>
          <a:ln w="38100" cap="flat" cmpd="sng">
            <a:solidFill>
              <a:srgbClr val="004AAD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도형 4"/>
          <p:cNvSpPr>
            <a:spLocks/>
          </p:cNvSpPr>
          <p:nvPr/>
        </p:nvSpPr>
        <p:spPr>
          <a:xfrm>
            <a:off x="4144010" y="2415540"/>
            <a:ext cx="2459355" cy="13373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0" name="텍스트 상자 5"/>
          <p:cNvSpPr txBox="1">
            <a:spLocks/>
          </p:cNvSpPr>
          <p:nvPr/>
        </p:nvSpPr>
        <p:spPr>
          <a:xfrm>
            <a:off x="4719320" y="2765425"/>
            <a:ext cx="1306830" cy="64579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3600" b="1"/>
              <a:t>Client</a:t>
            </a:r>
          </a:p>
        </p:txBody>
      </p:sp>
      <p:sp>
        <p:nvSpPr>
          <p:cNvPr id="11" name="도형 6"/>
          <p:cNvSpPr>
            <a:spLocks/>
          </p:cNvSpPr>
          <p:nvPr/>
        </p:nvSpPr>
        <p:spPr>
          <a:xfrm>
            <a:off x="11101070" y="2419985"/>
            <a:ext cx="2459355" cy="13373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2" name="텍스트 상자 7"/>
          <p:cNvSpPr txBox="1">
            <a:spLocks/>
          </p:cNvSpPr>
          <p:nvPr/>
        </p:nvSpPr>
        <p:spPr>
          <a:xfrm>
            <a:off x="11649710" y="2769870"/>
            <a:ext cx="1383030" cy="64579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3600" b="1"/>
              <a:t>Server</a:t>
            </a:r>
          </a:p>
        </p:txBody>
      </p:sp>
      <p:cxnSp>
        <p:nvCxnSpPr>
          <p:cNvPr id="13" name="도형 8"/>
          <p:cNvCxnSpPr>
            <a:stCxn id="9" idx="2"/>
          </p:cNvCxnSpPr>
          <p:nvPr/>
        </p:nvCxnSpPr>
        <p:spPr>
          <a:xfrm>
            <a:off x="5373370" y="3752215"/>
            <a:ext cx="8890" cy="5361305"/>
          </a:xfrm>
          <a:prstGeom prst="line">
            <a:avLst/>
          </a:prstGeom>
          <a:ln w="9525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도형 9"/>
          <p:cNvCxnSpPr>
            <a:stCxn id="11" idx="2"/>
          </p:cNvCxnSpPr>
          <p:nvPr/>
        </p:nvCxnSpPr>
        <p:spPr>
          <a:xfrm flipH="1">
            <a:off x="12306935" y="3756660"/>
            <a:ext cx="24130" cy="5410835"/>
          </a:xfrm>
          <a:prstGeom prst="line">
            <a:avLst/>
          </a:prstGeom>
          <a:ln w="9525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도형 11"/>
          <p:cNvSpPr>
            <a:spLocks/>
          </p:cNvSpPr>
          <p:nvPr/>
        </p:nvSpPr>
        <p:spPr>
          <a:xfrm>
            <a:off x="5368290" y="4294505"/>
            <a:ext cx="6952615" cy="68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6" name="텍스트 상자 14"/>
          <p:cNvSpPr txBox="1">
            <a:spLocks/>
          </p:cNvSpPr>
          <p:nvPr/>
        </p:nvSpPr>
        <p:spPr>
          <a:xfrm>
            <a:off x="7824470" y="3843020"/>
            <a:ext cx="2040890" cy="5232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2800" b="1"/>
              <a:t>증상 검색</a:t>
            </a:r>
          </a:p>
        </p:txBody>
      </p:sp>
      <p:sp>
        <p:nvSpPr>
          <p:cNvPr id="17" name="도형 15"/>
          <p:cNvSpPr>
            <a:spLocks/>
          </p:cNvSpPr>
          <p:nvPr/>
        </p:nvSpPr>
        <p:spPr>
          <a:xfrm flipH="1">
            <a:off x="5394960" y="5440045"/>
            <a:ext cx="6930390" cy="68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8" name="텍스트 상자 16"/>
          <p:cNvSpPr txBox="1">
            <a:spLocks/>
          </p:cNvSpPr>
          <p:nvPr/>
        </p:nvSpPr>
        <p:spPr>
          <a:xfrm>
            <a:off x="7278370" y="4975225"/>
            <a:ext cx="3150235" cy="52260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2800" b="1"/>
              <a:t>데이터의 증상 출력</a:t>
            </a:r>
          </a:p>
        </p:txBody>
      </p:sp>
      <p:sp>
        <p:nvSpPr>
          <p:cNvPr id="20" name="도형 20"/>
          <p:cNvSpPr>
            <a:spLocks/>
          </p:cNvSpPr>
          <p:nvPr/>
        </p:nvSpPr>
        <p:spPr>
          <a:xfrm>
            <a:off x="3985895" y="5636895"/>
            <a:ext cx="1383030" cy="123571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1" name="텍스트 상자 21"/>
          <p:cNvSpPr txBox="1">
            <a:spLocks/>
          </p:cNvSpPr>
          <p:nvPr/>
        </p:nvSpPr>
        <p:spPr>
          <a:xfrm>
            <a:off x="2299970" y="5995035"/>
            <a:ext cx="1686560" cy="52260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2800" b="1"/>
              <a:t>증상 선택</a:t>
            </a:r>
          </a:p>
        </p:txBody>
      </p:sp>
      <p:sp>
        <p:nvSpPr>
          <p:cNvPr id="22" name="도형 22"/>
          <p:cNvSpPr>
            <a:spLocks/>
          </p:cNvSpPr>
          <p:nvPr/>
        </p:nvSpPr>
        <p:spPr>
          <a:xfrm>
            <a:off x="5372735" y="6647815"/>
            <a:ext cx="6952615" cy="68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3" name="텍스트 상자 23"/>
          <p:cNvSpPr txBox="1">
            <a:spLocks/>
          </p:cNvSpPr>
          <p:nvPr/>
        </p:nvSpPr>
        <p:spPr>
          <a:xfrm>
            <a:off x="7466965" y="6263640"/>
            <a:ext cx="2761615" cy="5232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2800" b="1"/>
              <a:t>증상 진단 요청</a:t>
            </a:r>
          </a:p>
        </p:txBody>
      </p:sp>
      <p:sp>
        <p:nvSpPr>
          <p:cNvPr id="24" name="도형 26"/>
          <p:cNvSpPr>
            <a:spLocks/>
          </p:cNvSpPr>
          <p:nvPr/>
        </p:nvSpPr>
        <p:spPr>
          <a:xfrm flipH="1">
            <a:off x="5372735" y="7833360"/>
            <a:ext cx="6930390" cy="68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5" name="텍스트 상자 27"/>
          <p:cNvSpPr txBox="1">
            <a:spLocks/>
          </p:cNvSpPr>
          <p:nvPr/>
        </p:nvSpPr>
        <p:spPr>
          <a:xfrm>
            <a:off x="7498080" y="7422515"/>
            <a:ext cx="2688590" cy="52260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2800" b="1"/>
              <a:t>의심 질환 출력</a:t>
            </a:r>
          </a:p>
        </p:txBody>
      </p:sp>
      <p:sp>
        <p:nvSpPr>
          <p:cNvPr id="26" name="도형 28"/>
          <p:cNvSpPr>
            <a:spLocks/>
          </p:cNvSpPr>
          <p:nvPr/>
        </p:nvSpPr>
        <p:spPr>
          <a:xfrm>
            <a:off x="12320270" y="6817995"/>
            <a:ext cx="1369695" cy="141033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7" name="텍스트 상자 29"/>
          <p:cNvSpPr txBox="1">
            <a:spLocks/>
          </p:cNvSpPr>
          <p:nvPr/>
        </p:nvSpPr>
        <p:spPr>
          <a:xfrm>
            <a:off x="13779500" y="6979920"/>
            <a:ext cx="2071370" cy="9531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2800" b="1"/>
              <a:t>증상 토대로 확률 계산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 txBox="1">
            <a:spLocks/>
          </p:cNvSpPr>
          <p:nvPr/>
        </p:nvSpPr>
        <p:spPr>
          <a:xfrm>
            <a:off x="987425" y="976630"/>
            <a:ext cx="11460480" cy="8915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>
              <a:lnSpc>
                <a:spcPts val="6299"/>
              </a:lnSpc>
              <a:buFontTx/>
              <a:buNone/>
            </a:pPr>
            <a:r>
              <a:rPr lang="ko-KR" altLang="ko-KR" sz="4400" b="1" i="0" strike="noStrike" cap="none" spc="16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검색 예시</a:t>
            </a:r>
            <a:endParaRPr lang="ko-KR" altLang="en-US" sz="4400" b="1" i="0" strike="noStrike" cap="none">
              <a:ln w="9525" cap="flat" cmpd="sng">
                <a:noFill/>
                <a:prstDash/>
              </a:ln>
              <a:solidFill>
                <a:srgbClr val="004AAD"/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  <p:cxnSp>
        <p:nvCxnSpPr>
          <p:cNvPr id="8" name="Rect 0"/>
          <p:cNvCxnSpPr/>
          <p:nvPr/>
        </p:nvCxnSpPr>
        <p:spPr>
          <a:xfrm flipV="1">
            <a:off x="5005705" y="1409700"/>
            <a:ext cx="12308840" cy="27305"/>
          </a:xfrm>
          <a:prstGeom prst="line">
            <a:avLst/>
          </a:prstGeom>
          <a:ln w="38100" cap="flat" cmpd="sng">
            <a:solidFill>
              <a:srgbClr val="004AAD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31" descr="C:/Users/gkimt/AppData/Roaming/PolarisOffice/ETemp/292_10644360/fImage15603333846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" y="2214880"/>
            <a:ext cx="5262880" cy="4993005"/>
          </a:xfrm>
          <a:prstGeom prst="rect">
            <a:avLst/>
          </a:prstGeom>
          <a:noFill/>
        </p:spPr>
      </p:pic>
      <p:pic>
        <p:nvPicPr>
          <p:cNvPr id="10" name="그림 32" descr="C:/Users/gkimt/AppData/Roaming/PolarisOffice/ETemp/292_10644360/fImage10998334633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820" y="2220595"/>
            <a:ext cx="5229860" cy="4973955"/>
          </a:xfrm>
          <a:prstGeom prst="rect">
            <a:avLst/>
          </a:prstGeom>
          <a:noFill/>
        </p:spPr>
      </p:pic>
      <p:pic>
        <p:nvPicPr>
          <p:cNvPr id="11" name="그림 33" descr="C:/Users/gkimt/AppData/Roaming/PolarisOffice/ETemp/292_10644360/fImage110263356500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2815" y="4464050"/>
            <a:ext cx="5111750" cy="2744470"/>
          </a:xfrm>
          <a:prstGeom prst="rect">
            <a:avLst/>
          </a:prstGeom>
          <a:noFill/>
        </p:spPr>
      </p:pic>
      <p:sp>
        <p:nvSpPr>
          <p:cNvPr id="12" name="텍스트 상자 35"/>
          <p:cNvSpPr txBox="1">
            <a:spLocks/>
          </p:cNvSpPr>
          <p:nvPr/>
        </p:nvSpPr>
        <p:spPr>
          <a:xfrm>
            <a:off x="990600" y="7759700"/>
            <a:ext cx="7317740" cy="153797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fontAlgn="base">
              <a:buFontTx/>
              <a:buNone/>
            </a:pPr>
            <a:r>
              <a:rPr lang="ko-KR" altLang="ko-KR" sz="4400"/>
              <a:t>자연어 처리 모델 사용</a:t>
            </a:r>
            <a:endParaRPr lang="ko-KR" altLang="en-US" sz="4400"/>
          </a:p>
          <a:p>
            <a:pPr marL="0" indent="0" fontAlgn="base">
              <a:buFontTx/>
              <a:buNone/>
            </a:pPr>
            <a:endParaRPr lang="ko-KR" altLang="en-US" sz="3200"/>
          </a:p>
          <a:p>
            <a:pPr marL="0" indent="0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 txBox="1">
            <a:spLocks/>
          </p:cNvSpPr>
          <p:nvPr/>
        </p:nvSpPr>
        <p:spPr>
          <a:xfrm>
            <a:off x="987425" y="976630"/>
            <a:ext cx="11460480" cy="8915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>
              <a:lnSpc>
                <a:spcPts val="6299"/>
              </a:lnSpc>
              <a:buFontTx/>
              <a:buNone/>
            </a:pPr>
            <a:r>
              <a:rPr lang="ko-KR" altLang="ko-KR" sz="4400" b="1" i="0" strike="noStrike" cap="none" spc="160" dirty="0" err="1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Ai</a:t>
            </a:r>
            <a:r>
              <a:rPr lang="ko-KR" altLang="ko-KR" sz="4400" b="1" i="0" strike="noStrike" cap="none" spc="160" dirty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 해결할 과제</a:t>
            </a:r>
            <a:endParaRPr lang="ko-KR" altLang="en-US" sz="4400" b="1" i="0" strike="noStrike" cap="none" dirty="0">
              <a:ln w="9525" cap="flat" cmpd="sng">
                <a:noFill/>
                <a:prstDash/>
              </a:ln>
              <a:solidFill>
                <a:srgbClr val="004AAD"/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  <p:cxnSp>
        <p:nvCxnSpPr>
          <p:cNvPr id="8" name="Rect 0"/>
          <p:cNvCxnSpPr/>
          <p:nvPr/>
        </p:nvCxnSpPr>
        <p:spPr>
          <a:xfrm flipV="1">
            <a:off x="5005705" y="1409700"/>
            <a:ext cx="12308840" cy="27305"/>
          </a:xfrm>
          <a:prstGeom prst="line">
            <a:avLst/>
          </a:prstGeom>
          <a:ln w="38100" cap="flat" cmpd="sng">
            <a:solidFill>
              <a:srgbClr val="004AAD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상자 34"/>
          <p:cNvSpPr txBox="1">
            <a:spLocks/>
          </p:cNvSpPr>
          <p:nvPr/>
        </p:nvSpPr>
        <p:spPr>
          <a:xfrm>
            <a:off x="990600" y="3169285"/>
            <a:ext cx="16840835" cy="464566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fontAlgn="base">
              <a:buFontTx/>
              <a:buNone/>
            </a:pPr>
            <a:endParaRPr lang="ko-KR" altLang="en-US" sz="4400"/>
          </a:p>
          <a:p>
            <a:pPr marL="0" indent="0" fontAlgn="base">
              <a:buFontTx/>
              <a:buNone/>
            </a:pPr>
            <a:r>
              <a:rPr lang="ko-KR" altLang="ko-KR" sz="4400"/>
              <a:t>1. 데이터 셋 찾기  ( 중요 )</a:t>
            </a:r>
            <a:endParaRPr lang="ko-KR" altLang="en-US" sz="4400"/>
          </a:p>
          <a:p>
            <a:pPr marL="0" indent="0" fontAlgn="base">
              <a:buFontTx/>
              <a:buNone/>
            </a:pPr>
            <a:endParaRPr lang="ko-KR" altLang="en-US" sz="4400"/>
          </a:p>
          <a:p>
            <a:pPr marL="0" indent="0" fontAlgn="base">
              <a:buFontTx/>
              <a:buNone/>
            </a:pPr>
            <a:r>
              <a:rPr lang="ko-KR" altLang="ko-KR" sz="4400"/>
              <a:t>1-2. 베이즈 정리 공식 적용</a:t>
            </a:r>
            <a:endParaRPr lang="ko-KR" altLang="en-US" sz="4400"/>
          </a:p>
          <a:p>
            <a:pPr marL="0" indent="0" fontAlgn="base">
              <a:buFontTx/>
              <a:buNone/>
            </a:pPr>
            <a:endParaRPr lang="ko-KR" altLang="en-US" sz="4400"/>
          </a:p>
          <a:p>
            <a:pPr marL="0" indent="0" fontAlgn="base">
              <a:buFontTx/>
              <a:buNone/>
            </a:pPr>
            <a:endParaRPr lang="ko-KR" altLang="en-US" sz="4400"/>
          </a:p>
          <a:p>
            <a:pPr marL="0" indent="0" fontAlgn="base">
              <a:buFontTx/>
              <a:buNone/>
            </a:pPr>
            <a:r>
              <a:rPr lang="ko-KR" altLang="ko-KR" sz="3200"/>
              <a:t>+ 체팅 창 버그 수정</a:t>
            </a:r>
            <a:endParaRPr lang="ko-KR" altLang="en-US" sz="3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3223895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7975" y="1193165"/>
            <a:ext cx="4021455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0515" y="1905635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오른쪽 화살표 2"/>
          <p:cNvSpPr/>
          <p:nvPr/>
        </p:nvSpPr>
        <p:spPr>
          <a:xfrm>
            <a:off x="7012305" y="2221865"/>
            <a:ext cx="1371600" cy="7931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오른쪽 화살표 3"/>
          <p:cNvSpPr/>
          <p:nvPr/>
        </p:nvSpPr>
        <p:spPr>
          <a:xfrm rot="2173269">
            <a:off x="11093450" y="3497580"/>
            <a:ext cx="2313305" cy="6661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982200" y="4221480"/>
            <a:ext cx="3029585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Continuous Deploy</a:t>
            </a:r>
            <a:endParaRPr lang="ko-KR" altLang="en-US" sz="2400" dirty="0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2985" y="4661535"/>
            <a:ext cx="3182620" cy="203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아래쪽 화살표 5"/>
          <p:cNvSpPr/>
          <p:nvPr/>
        </p:nvSpPr>
        <p:spPr>
          <a:xfrm rot="14603834">
            <a:off x="10520680" y="5709920"/>
            <a:ext cx="732155" cy="30600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262870" y="6628765"/>
            <a:ext cx="152400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DNS</a:t>
            </a:r>
            <a:endParaRPr lang="ko-KR" altLang="en-US" dirty="0"/>
          </a:p>
        </p:txBody>
      </p:sp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400" y="7673975"/>
            <a:ext cx="252412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163570" y="2938145"/>
            <a:ext cx="1600200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Push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940" y="7388225"/>
            <a:ext cx="1565275" cy="156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오른쪽 화살표 9"/>
          <p:cNvSpPr/>
          <p:nvPr/>
        </p:nvSpPr>
        <p:spPr>
          <a:xfrm>
            <a:off x="3163570" y="8001635"/>
            <a:ext cx="3418840" cy="7734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169920" y="7734300"/>
            <a:ext cx="350520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https://gungangazi.site</a:t>
            </a:r>
            <a:endParaRPr lang="ko-KR" altLang="en-US" sz="2000" dirty="0"/>
          </a:p>
        </p:txBody>
      </p:sp>
      <p:pic>
        <p:nvPicPr>
          <p:cNvPr id="1050" name="Picture 2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2895" y="1483995"/>
            <a:ext cx="3352800" cy="97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오른쪽 화살표 11"/>
          <p:cNvSpPr/>
          <p:nvPr/>
        </p:nvSpPr>
        <p:spPr>
          <a:xfrm>
            <a:off x="11242040" y="2012950"/>
            <a:ext cx="1760855" cy="6235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3749020" y="2432050"/>
            <a:ext cx="4420235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subosito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/flutter-action@v2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오른쪽 화살표 1"/>
          <p:cNvSpPr/>
          <p:nvPr/>
        </p:nvSpPr>
        <p:spPr>
          <a:xfrm rot="19897089">
            <a:off x="3172460" y="3389630"/>
            <a:ext cx="1452245" cy="7626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597660" y="9236710"/>
            <a:ext cx="1866265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유저</a:t>
            </a:r>
          </a:p>
        </p:txBody>
      </p:sp>
      <p:pic>
        <p:nvPicPr>
          <p:cNvPr id="1052" name="Picture 28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2985" y="6628765"/>
            <a:ext cx="2758440" cy="110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AutoShape 15"/>
          <p:cNvSpPr/>
          <p:nvPr/>
        </p:nvSpPr>
        <p:spPr>
          <a:xfrm flipV="1">
            <a:off x="6172200" y="958850"/>
            <a:ext cx="9787255" cy="12065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12"/>
          <p:cNvSpPr txBox="1"/>
          <p:nvPr/>
        </p:nvSpPr>
        <p:spPr>
          <a:xfrm>
            <a:off x="1845310" y="719455"/>
            <a:ext cx="6299835" cy="74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</a:pPr>
            <a:r>
              <a:rPr kumimoji="0" lang="ko-KR" altLang="en-US" sz="4800" b="1" i="0" u="none" strike="noStrike" kern="1200" cap="none" spc="157" normalizeH="0" baseline="0" noProof="0">
                <a:ln>
                  <a:noFill/>
                </a:ln>
                <a:solidFill>
                  <a:srgbClr val="004AAD"/>
                </a:solidFill>
                <a:effectLst/>
                <a:uLnTx/>
                <a:uFillTx/>
                <a:latin typeface="Gotham Bold"/>
                <a:ea typeface="Gotham Bold"/>
                <a:cs typeface="Gotham Bold"/>
                <a:sym typeface="Gotham Bold"/>
              </a:rPr>
              <a:t>배포 흐름도</a:t>
            </a:r>
            <a:endParaRPr kumimoji="0" lang="en-US" sz="4800" b="1" i="0" u="none" strike="noStrike" kern="1200" cap="none" spc="157" normalizeH="0" baseline="0" noProof="0" dirty="0">
              <a:ln>
                <a:noFill/>
              </a:ln>
              <a:solidFill>
                <a:srgbClr val="004AAD"/>
              </a:solidFill>
              <a:effectLst/>
              <a:uLnTx/>
              <a:uFillTx/>
              <a:latin typeface="Gotham Bold"/>
              <a:ea typeface="Gotham Bold"/>
              <a:cs typeface="Gotham Bold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908721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모서리가 둥근 직사각형 17"/>
          <p:cNvSpPr/>
          <p:nvPr/>
        </p:nvSpPr>
        <p:spPr>
          <a:xfrm>
            <a:off x="3372757" y="4033638"/>
            <a:ext cx="5064392" cy="290304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7803335" y="447664"/>
            <a:ext cx="3124200" cy="274397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862" y="3202790"/>
            <a:ext cx="3182620" cy="203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535" y="5571282"/>
            <a:ext cx="2758440" cy="110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pring Boot] Spring Boo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146" y="4051730"/>
            <a:ext cx="2379738" cy="124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418" y="3869993"/>
            <a:ext cx="1565275" cy="156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833501" y="3906191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Gungangazi.site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808777" y="6054971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로그인</a:t>
            </a:r>
            <a:r>
              <a:rPr lang="en-US" altLang="ko-KR" dirty="0" smtClean="0"/>
              <a:t>, </a:t>
            </a:r>
            <a:r>
              <a:rPr lang="ko-KR" altLang="en-US" dirty="0" smtClean="0"/>
              <a:t>회원가입</a:t>
            </a:r>
            <a:r>
              <a:rPr lang="en-US" altLang="ko-KR" dirty="0" smtClean="0"/>
              <a:t>, </a:t>
            </a:r>
            <a:r>
              <a:rPr lang="ko-KR" altLang="en-US" dirty="0" smtClean="0"/>
              <a:t>회원정보 업데이트 가능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547693" y="5544608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유저</a:t>
            </a:r>
            <a:endParaRPr lang="ko-KR" altLang="en-US" dirty="0"/>
          </a:p>
        </p:txBody>
      </p:sp>
      <p:pic>
        <p:nvPicPr>
          <p:cNvPr id="1028" name="Picture 4" descr="AWS RDS]란 무엇인가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3374" y="843150"/>
            <a:ext cx="342900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ySQL 리뷰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770" y="905926"/>
            <a:ext cx="1238706" cy="1238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왼쪽/오른쪽 화살표 14"/>
          <p:cNvSpPr/>
          <p:nvPr/>
        </p:nvSpPr>
        <p:spPr>
          <a:xfrm rot="19059699">
            <a:off x="5212535" y="2582037"/>
            <a:ext cx="1676400" cy="6096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왼쪽/오른쪽 화살표 15"/>
          <p:cNvSpPr/>
          <p:nvPr/>
        </p:nvSpPr>
        <p:spPr>
          <a:xfrm>
            <a:off x="8550770" y="4514251"/>
            <a:ext cx="2309567" cy="64343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623264" y="1740036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User table</a:t>
            </a:r>
            <a:endParaRPr lang="ko-KR" altLang="en-US" dirty="0"/>
          </a:p>
        </p:txBody>
      </p:sp>
      <p:sp>
        <p:nvSpPr>
          <p:cNvPr id="21" name="오른쪽 화살표 20"/>
          <p:cNvSpPr/>
          <p:nvPr/>
        </p:nvSpPr>
        <p:spPr>
          <a:xfrm rot="18358142">
            <a:off x="5149720" y="5099066"/>
            <a:ext cx="947089" cy="547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>
            <a:off x="1407198" y="7428287"/>
            <a:ext cx="15776575" cy="332398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>
              <a:lnSpc>
                <a:spcPts val="6299"/>
              </a:lnSpc>
              <a:buFontTx/>
              <a:buNone/>
            </a:pPr>
            <a:r>
              <a:rPr lang="ko-KR" altLang="en-US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추후 해결할 과제</a:t>
            </a:r>
            <a:r>
              <a:rPr lang="en-US" altLang="ko-KR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: </a:t>
            </a:r>
          </a:p>
          <a:p>
            <a:pPr marL="0" indent="0" algn="just">
              <a:lnSpc>
                <a:spcPts val="6299"/>
              </a:lnSpc>
              <a:buFontTx/>
              <a:buNone/>
            </a:pPr>
            <a:r>
              <a:rPr lang="ko-KR" altLang="en-US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수분 보충</a:t>
            </a:r>
            <a:r>
              <a:rPr lang="en-US" altLang="ko-KR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, </a:t>
            </a:r>
            <a:r>
              <a:rPr lang="ko-KR" altLang="en-US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수면</a:t>
            </a:r>
            <a:r>
              <a:rPr lang="en-US" altLang="ko-KR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, </a:t>
            </a:r>
            <a:r>
              <a:rPr lang="ko-KR" altLang="en-US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혈당</a:t>
            </a:r>
            <a:r>
              <a:rPr lang="en-US" altLang="ko-KR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, </a:t>
            </a:r>
            <a:r>
              <a:rPr lang="ko-KR" altLang="en-US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식사</a:t>
            </a:r>
            <a:r>
              <a:rPr lang="en-US" altLang="ko-KR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, .. </a:t>
            </a:r>
            <a:r>
              <a:rPr lang="ko-KR" altLang="en-US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데이터 베이스에 정보 보관</a:t>
            </a:r>
            <a:endParaRPr lang="en-US" altLang="ko-KR" sz="4400" b="1" spc="160" dirty="0" smtClean="0">
              <a:ln w="9525" cap="flat" cmpd="sng">
                <a:noFill/>
                <a:prstDash/>
              </a:ln>
              <a:solidFill>
                <a:srgbClr val="004AAD"/>
              </a:solidFill>
              <a:latin typeface="Gotham Bold" charset="0"/>
              <a:ea typeface="Gotham Bold" charset="0"/>
              <a:cs typeface="Gotham Bold" charset="0"/>
            </a:endParaRPr>
          </a:p>
          <a:p>
            <a:pPr marL="0" indent="0" algn="just">
              <a:lnSpc>
                <a:spcPts val="6299"/>
              </a:lnSpc>
              <a:buFontTx/>
              <a:buNone/>
            </a:pPr>
            <a:r>
              <a:rPr lang="ko-KR" altLang="en-US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삼성 헬스 </a:t>
            </a:r>
            <a:r>
              <a:rPr lang="en-US" altLang="ko-KR" sz="4400" b="1" spc="160" dirty="0" err="1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api</a:t>
            </a:r>
            <a:r>
              <a:rPr lang="en-US" altLang="ko-KR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 </a:t>
            </a:r>
            <a:r>
              <a:rPr lang="ko-KR" altLang="en-US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연결</a:t>
            </a:r>
            <a:endParaRPr lang="en-US" altLang="ko-KR" sz="4400" b="1" spc="160" dirty="0" smtClean="0">
              <a:ln w="9525" cap="flat" cmpd="sng">
                <a:noFill/>
                <a:prstDash/>
              </a:ln>
              <a:solidFill>
                <a:srgbClr val="004AAD"/>
              </a:solidFill>
              <a:latin typeface="Gotham Bold" charset="0"/>
              <a:ea typeface="Gotham Bold" charset="0"/>
              <a:cs typeface="Gotham Bold" charset="0"/>
            </a:endParaRPr>
          </a:p>
          <a:p>
            <a:pPr marL="0" indent="0" algn="just">
              <a:lnSpc>
                <a:spcPts val="6299"/>
              </a:lnSpc>
              <a:buFontTx/>
              <a:buNone/>
            </a:pPr>
            <a:r>
              <a:rPr lang="en-US" altLang="ko-KR" sz="4400" b="1" spc="160" dirty="0" smtClean="0">
                <a:ln w="9525" cap="flat" cmpd="sng">
                  <a:noFill/>
                  <a:prstDash/>
                </a:ln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 </a:t>
            </a:r>
            <a:endParaRPr lang="ko-KR" altLang="en-US" sz="4400" b="1" i="0" strike="noStrike" cap="none" dirty="0">
              <a:ln w="9525" cap="flat" cmpd="sng">
                <a:noFill/>
                <a:prstDash/>
              </a:ln>
              <a:solidFill>
                <a:srgbClr val="004AAD"/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798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7085" y="942975"/>
            <a:ext cx="629983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</a:pPr>
            <a:r>
              <a:rPr lang="en-US" sz="4500" b="1" spc="157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실용성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7085" y="2011045"/>
            <a:ext cx="9708515" cy="1666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32"/>
              </a:lnSpc>
              <a:spcBef>
                <a:spcPct val="0"/>
              </a:spcBef>
            </a:pPr>
            <a:r>
              <a:rPr lang="en-US" sz="3629" spc="10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각 </a:t>
            </a:r>
            <a:r>
              <a:rPr lang="en-US" sz="3629" spc="10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부위별</a:t>
            </a:r>
            <a:r>
              <a:rPr lang="en-US" sz="3629" spc="10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</a:t>
            </a:r>
            <a:r>
              <a:rPr lang="en-US" sz="3629" spc="10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건강을</a:t>
            </a:r>
            <a:r>
              <a:rPr lang="en-US" sz="3629" spc="10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앱 </a:t>
            </a:r>
            <a:r>
              <a:rPr lang="en-US" sz="3629" spc="10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하나로</a:t>
            </a:r>
            <a:r>
              <a:rPr lang="en-US" sz="3629" spc="10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</a:t>
            </a:r>
            <a:r>
              <a:rPr lang="en-US" sz="3629" spc="10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챙길</a:t>
            </a:r>
            <a:r>
              <a:rPr lang="en-US" sz="3629" spc="10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수 </a:t>
            </a:r>
            <a:r>
              <a:rPr lang="en-US" sz="3629" spc="10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있음</a:t>
            </a:r>
            <a:endParaRPr lang="en-US" sz="3629" spc="108" dirty="0">
              <a:solidFill>
                <a:srgbClr val="000000"/>
              </a:solidFill>
              <a:latin typeface="윤고딕 Semi-Bold"/>
              <a:ea typeface="윤고딕 Semi-Bold"/>
              <a:cs typeface="윤고딕 Semi-Bold"/>
              <a:sym typeface="윤고딕 Semi-Bold"/>
            </a:endParaRPr>
          </a:p>
          <a:p>
            <a:pPr algn="ctr">
              <a:lnSpc>
                <a:spcPts val="6532"/>
              </a:lnSpc>
              <a:spcBef>
                <a:spcPct val="0"/>
              </a:spcBef>
            </a:pPr>
            <a:endParaRPr lang="en-US" sz="3629" spc="108" dirty="0">
              <a:solidFill>
                <a:srgbClr val="000000"/>
              </a:solidFill>
              <a:latin typeface="윤고딕 Semi-Bold"/>
              <a:ea typeface="윤고딕 Semi-Bold"/>
              <a:cs typeface="윤고딕 Semi-Bold"/>
              <a:sym typeface="윤고딕 Semi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95375" y="2992120"/>
            <a:ext cx="9039225" cy="833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532"/>
              </a:lnSpc>
              <a:spcBef>
                <a:spcPct val="0"/>
              </a:spcBef>
            </a:pPr>
            <a:r>
              <a:rPr lang="en-US" sz="3629" spc="10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바쁜</a:t>
            </a:r>
            <a:r>
              <a:rPr lang="en-US" sz="3629" spc="10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</a:t>
            </a:r>
            <a:r>
              <a:rPr lang="en-US" sz="3629" spc="10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사람들을</a:t>
            </a:r>
            <a:r>
              <a:rPr lang="en-US" sz="3629" spc="10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</a:t>
            </a:r>
            <a:r>
              <a:rPr lang="en-US" sz="3629" spc="10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위해</a:t>
            </a:r>
            <a:r>
              <a:rPr lang="en-US" sz="3629" spc="10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</a:t>
            </a:r>
            <a:r>
              <a:rPr lang="en-US" sz="3629" spc="10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빠르고</a:t>
            </a:r>
            <a:r>
              <a:rPr lang="en-US" sz="3629" spc="10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</a:t>
            </a:r>
            <a:r>
              <a:rPr lang="en-US" sz="3629" spc="10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간단하게</a:t>
            </a:r>
            <a:r>
              <a:rPr lang="en-US" sz="3629" spc="10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</a:t>
            </a:r>
            <a:r>
              <a:rPr lang="en-US" sz="3629" spc="10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진단</a:t>
            </a:r>
            <a:r>
              <a:rPr lang="en-US" sz="3629" spc="10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</a:t>
            </a:r>
          </a:p>
        </p:txBody>
      </p:sp>
      <p:sp>
        <p:nvSpPr>
          <p:cNvPr id="5" name="AutoShape 5"/>
          <p:cNvSpPr/>
          <p:nvPr/>
        </p:nvSpPr>
        <p:spPr>
          <a:xfrm>
            <a:off x="2841625" y="1352550"/>
            <a:ext cx="12538075" cy="19050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2160905"/>
            <a:ext cx="4435475" cy="7059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7085" y="942975"/>
            <a:ext cx="2034540" cy="752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</a:pPr>
            <a:r>
              <a:rPr lang="ko-KR" altLang="en-US" sz="4500" b="1" spc="157" dirty="0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  결론</a:t>
            </a:r>
            <a:endParaRPr lang="en-US" sz="4500" b="1" spc="157" dirty="0">
              <a:solidFill>
                <a:srgbClr val="004AAD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2841625" y="1352550"/>
            <a:ext cx="12538075" cy="19050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331595" y="1922780"/>
            <a:ext cx="12788900" cy="7109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감정적 유대감 형성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사용자가 건강하지 않으면 캐릭터도 함께 아파하는 구조로,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사용자는 캐릭터에 대한 애착을 느낄 수 있습니다.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건강 앱 중에 직관적으로 아픈 곳을 기록할 수 있는 앱은 드물기 때문에,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독창성도 기대할 수 있습니다.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예방 중심의 건강 관리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현대 사회에서 건강은 중요한 가치입니다.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하지만 많은 사람들이 병이 심각해지기 전까지 병원을 찾지 않습니다.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어플은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자가진단을 통해 질병을 조기에 인식하고 예방할 수 있도록 돕습니다.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자가진단과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건강 관리 기능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병원에 가지 못하는 상황에서 자가진단을 할 수 있을 뿐만 아니라,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물 섭취 및 영양제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알람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기능을 통해 사용자 스스로 건강 상태를 체크하고 관리할 수 있습니다.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병원 방문의 불편함을 해소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요즘 사람들은 병원에 가는 것을 귀찮아하는 경향이 있습니다.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정말 아프기 전까지는 병원을 찾지 않는데,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어플은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가까운 곳에서 손쉽게 자신의 건강 상태를 확인할 수 있는 기능을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331965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lumOff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도형 7"/>
          <p:cNvCxnSpPr>
            <a:cxnSpLocks/>
          </p:cNvCxnSpPr>
          <p:nvPr/>
        </p:nvCxnSpPr>
        <p:spPr>
          <a:xfrm flipV="1">
            <a:off x="3962400" y="1368425"/>
            <a:ext cx="11982450" cy="67945"/>
          </a:xfrm>
          <a:prstGeom prst="line">
            <a:avLst/>
          </a:prstGeom>
          <a:ln w="28575" cap="flat" cmpd="sng">
            <a:solidFill>
              <a:srgbClr val="004AAD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상자 8"/>
          <p:cNvSpPr txBox="1">
            <a:spLocks/>
          </p:cNvSpPr>
          <p:nvPr/>
        </p:nvSpPr>
        <p:spPr>
          <a:xfrm>
            <a:off x="802005" y="942340"/>
            <a:ext cx="3296920" cy="87566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just">
              <a:lnSpc>
                <a:spcPts val="6891"/>
              </a:lnSpc>
              <a:buFontTx/>
              <a:buNone/>
            </a:pPr>
            <a:r>
              <a:rPr lang="ko-KR" sz="4920" b="1" spc="1240" dirty="0"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참고문헌</a:t>
            </a:r>
            <a:endParaRPr lang="ko-KR" altLang="en-US" sz="4920" b="1" dirty="0">
              <a:solidFill>
                <a:srgbClr val="004AAD"/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  <p:sp>
        <p:nvSpPr>
          <p:cNvPr id="5" name="텍스트 상자 12"/>
          <p:cNvSpPr txBox="1">
            <a:spLocks/>
          </p:cNvSpPr>
          <p:nvPr/>
        </p:nvSpPr>
        <p:spPr>
          <a:xfrm>
            <a:off x="228600" y="8811260"/>
            <a:ext cx="11701145" cy="1537970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391795" lvl="1" algn="l">
              <a:lnSpc>
                <a:spcPts val="6532"/>
              </a:lnSpc>
            </a:pPr>
            <a:r>
              <a:rPr sz="1600" b="0" i="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inherit" charset="0"/>
                <a:ea typeface="inherit" charset="0"/>
              </a:rPr>
              <a:t>https://chatgpt.com/share/66f16c31-8748-800e-a493-573e22bc2d55</a:t>
            </a:r>
            <a:endParaRPr lang="en-US" sz="1600" u="sng" dirty="0">
              <a:solidFill>
                <a:srgbClr val="0563C1"/>
              </a:solidFill>
              <a:uFill>
                <a:solidFill>
                  <a:srgbClr val="0563C1"/>
                </a:solidFill>
              </a:uFill>
              <a:latin typeface="inherit" charset="0"/>
              <a:ea typeface="inherit" charset="0"/>
            </a:endParaRPr>
          </a:p>
          <a:p>
            <a:pPr marL="783590" lvl="1" indent="-391795" algn="l">
              <a:lnSpc>
                <a:spcPts val="6532"/>
              </a:lnSpc>
              <a:buFont typeface="+mj-lt"/>
              <a:buAutoNum type="arabicPeriod"/>
            </a:pPr>
            <a:endParaRPr lang="ko-KR" altLang="en-US" sz="3625" dirty="0">
              <a:solidFill>
                <a:srgbClr val="000000"/>
              </a:solidFill>
              <a:latin typeface="윤고딕 Semi-Bold" charset="0"/>
              <a:ea typeface="윤고딕 Semi-Bold" charset="0"/>
              <a:cs typeface="윤고딕 Semi-Bold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245" y="2543810"/>
            <a:ext cx="4191000" cy="23577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2445" y="9614535"/>
            <a:ext cx="746760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플러터</a:t>
            </a:r>
            <a:r>
              <a:rPr lang="ko-KR" altLang="en-US" dirty="0"/>
              <a:t> 화면 터치 처리 </a:t>
            </a:r>
            <a:r>
              <a:rPr lang="en-US" altLang="ko-KR" dirty="0"/>
              <a:t>https://calvinjmkim.tistory.com/64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14350" y="8800465"/>
            <a:ext cx="6650355" cy="615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ko-KR" sz="1600" dirty="0">
                <a:solidFill>
                  <a:srgbClr val="000000"/>
                </a:solidFill>
                <a:latin typeface="윤고딕 Semi-Bold" charset="0"/>
                <a:ea typeface="윤고딕 Semi-Bold" charset="0"/>
                <a:cs typeface="윤고딕 Semi-Bold" charset="0"/>
              </a:rPr>
              <a:t>https://docs.aws.amazon.com/ko_kr/</a:t>
            </a:r>
            <a:endParaRPr lang="ko-KR" altLang="en-US" sz="1600" dirty="0">
              <a:solidFill>
                <a:srgbClr val="000000"/>
              </a:solidFill>
              <a:latin typeface="윤고딕 Semi-Bold" charset="0"/>
              <a:ea typeface="윤고딕 Semi-Bold" charset="0"/>
              <a:cs typeface="윤고딕 Semi-Bold" charset="0"/>
            </a:endParaRPr>
          </a:p>
          <a:p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395" y="5314950"/>
            <a:ext cx="4410710" cy="16256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4330" y="4901565"/>
            <a:ext cx="3241675" cy="216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512445" y="8370570"/>
            <a:ext cx="9375775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https://www.reddit.com/r/FlutterDev/comments/voxj4x/list_of_web_apps_built_with_flutter/</a:t>
            </a:r>
            <a:endParaRPr lang="ko-KR" alt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620" y="2922905"/>
            <a:ext cx="4568190" cy="119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utoShape 6"/>
          <p:cNvSpPr>
            <a:spLocks noChangeAspect="1" noChangeArrowheads="1"/>
          </p:cNvSpPr>
          <p:nvPr/>
        </p:nvSpPr>
        <p:spPr bwMode="auto">
          <a:xfrm>
            <a:off x="155575" y="-144780"/>
            <a:ext cx="11198225" cy="1119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3685" y="2941955"/>
            <a:ext cx="3402965" cy="1776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직사각형 18"/>
          <p:cNvSpPr/>
          <p:nvPr/>
        </p:nvSpPr>
        <p:spPr>
          <a:xfrm>
            <a:off x="512445" y="7936865"/>
            <a:ext cx="8585835" cy="3695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https://www.reddit.com/r/FlutterDev/comments/px0phx/flutter_for_web_development/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527685" y="7249160"/>
            <a:ext cx="13716000" cy="646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https://velog.io/@513sojin/Flutter-web-%EB%B0%91%EB%B0%94%EB%8B%A5%EB%B6%80%ED%84%B0-%EB%B0%B0%ED%8F%AC%ED%95%98%EA%B8%B0-nginx-%EC%84%A4%EC%A0%95%ED%95%98%EA%B8%B0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68025" y="7306310"/>
            <a:ext cx="5509895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ec2 </a:t>
            </a:r>
            <a:r>
              <a:rPr lang="ko-KR" altLang="en-US" dirty="0"/>
              <a:t>웹 배포 </a:t>
            </a:r>
            <a:r>
              <a:rPr lang="en-US" altLang="ko-KR" dirty="0" err="1"/>
              <a:t>Velog</a:t>
            </a:r>
            <a:r>
              <a:rPr lang="en-US" altLang="ko-KR" dirty="0"/>
              <a:t>: </a:t>
            </a:r>
            <a:r>
              <a:rPr lang="ko-KR" altLang="en-US" dirty="0" err="1"/>
              <a:t>이소진</a:t>
            </a:r>
            <a:r>
              <a:rPr lang="en-US" altLang="ko-KR" dirty="0"/>
              <a:t> / </a:t>
            </a:r>
            <a:r>
              <a:rPr lang="en-US" altLang="ko-KR" dirty="0" err="1"/>
              <a:t>webFront</a:t>
            </a:r>
            <a:r>
              <a:rPr lang="en-US" altLang="ko-KR" dirty="0"/>
              <a:t> / Flutter / iOS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224020" y="8753475"/>
            <a:ext cx="382651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Aws </a:t>
            </a:r>
            <a:r>
              <a:rPr lang="ko-KR" altLang="en-US" dirty="0"/>
              <a:t>설명서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512445" y="6774815"/>
            <a:ext cx="4856480" cy="3695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https://github.com/fluttercommunity/community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2100" y="6757670"/>
            <a:ext cx="4026535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Github</a:t>
            </a:r>
            <a:r>
              <a:rPr lang="en-US" altLang="ko-KR" dirty="0"/>
              <a:t> flutter </a:t>
            </a:r>
            <a:r>
              <a:rPr lang="ko-KR" altLang="en-US" dirty="0"/>
              <a:t>커뮤니티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14350" y="6399530"/>
            <a:ext cx="1760855" cy="3695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https://pub.dev/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73300" y="6400165"/>
            <a:ext cx="259080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Flutter </a:t>
            </a:r>
            <a:r>
              <a:rPr lang="ko-KR" altLang="en-US" dirty="0"/>
              <a:t>플러그인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27685" y="5997575"/>
            <a:ext cx="5615305" cy="3695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https://www.youtube.com/watch?v=BXwbDjurVnE&amp;t=52s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85" y="2381250"/>
            <a:ext cx="3766820" cy="516001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360" y="3388360"/>
            <a:ext cx="3939540" cy="504063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345" y="3874770"/>
            <a:ext cx="3871595" cy="482727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3860" y="4489450"/>
            <a:ext cx="3560445" cy="475805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0" y="4914900"/>
            <a:ext cx="3487420" cy="47713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44295" y="1929130"/>
            <a:ext cx="3276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저자</a:t>
            </a:r>
            <a:r>
              <a:rPr lang="en-US" altLang="ko-KR" dirty="0"/>
              <a:t>: </a:t>
            </a:r>
            <a:r>
              <a:rPr lang="ko-KR" altLang="en-US" dirty="0" err="1"/>
              <a:t>최수호</a:t>
            </a:r>
            <a:r>
              <a:rPr lang="en-US" altLang="ko-KR" dirty="0"/>
              <a:t>, </a:t>
            </a:r>
            <a:r>
              <a:rPr lang="ko-KR" altLang="en-US" dirty="0" err="1"/>
              <a:t>김근호</a:t>
            </a:r>
            <a:r>
              <a:rPr lang="en-US" altLang="ko-KR" dirty="0"/>
              <a:t>, </a:t>
            </a:r>
            <a:r>
              <a:rPr lang="ko-KR" altLang="en-US" dirty="0"/>
              <a:t>이지원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8280" y="4441190"/>
            <a:ext cx="266700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저자</a:t>
            </a:r>
            <a:r>
              <a:rPr lang="en-US" altLang="ko-KR" dirty="0"/>
              <a:t>: </a:t>
            </a:r>
            <a:r>
              <a:rPr lang="ko-KR" altLang="en-US" dirty="0" err="1"/>
              <a:t>조준수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721725" y="3534410"/>
            <a:ext cx="160020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저자</a:t>
            </a:r>
            <a:r>
              <a:rPr lang="en-US" altLang="ko-KR" dirty="0"/>
              <a:t>:</a:t>
            </a:r>
            <a:r>
              <a:rPr lang="ko-KR" altLang="en-US" dirty="0" err="1"/>
              <a:t>우재남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391900" y="4097020"/>
            <a:ext cx="190500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저자</a:t>
            </a:r>
            <a:r>
              <a:rPr lang="en-US" altLang="ko-KR" dirty="0"/>
              <a:t>: </a:t>
            </a:r>
            <a:r>
              <a:rPr lang="ko-KR" altLang="en-US" dirty="0" err="1"/>
              <a:t>이고잉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137785" y="2930525"/>
            <a:ext cx="213360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저자</a:t>
            </a:r>
            <a:r>
              <a:rPr lang="en-US" altLang="ko-KR" dirty="0"/>
              <a:t>: </a:t>
            </a:r>
            <a:r>
              <a:rPr lang="ko-KR" altLang="en-US" dirty="0"/>
              <a:t>오준석</a:t>
            </a: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B3E2024C-00A2-463E-BAD2-D808AE19AD6F}"/>
              </a:ext>
            </a:extLst>
          </p:cNvPr>
          <p:cNvSpPr/>
          <p:nvPr/>
        </p:nvSpPr>
        <p:spPr>
          <a:xfrm>
            <a:off x="5762625" y="1143000"/>
            <a:ext cx="11181080" cy="19050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7C9F82-35AC-4124-9808-61FDB4B4815F}"/>
              </a:ext>
            </a:extLst>
          </p:cNvPr>
          <p:cNvSpPr txBox="1"/>
          <p:nvPr/>
        </p:nvSpPr>
        <p:spPr>
          <a:xfrm>
            <a:off x="1344295" y="607060"/>
            <a:ext cx="4523105" cy="91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ts val="6891"/>
              </a:lnSpc>
              <a:buFontTx/>
              <a:buNone/>
            </a:pPr>
            <a:r>
              <a:rPr lang="ko-KR" altLang="en-US" sz="4800" b="1" spc="1240" dirty="0"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참고문헌</a:t>
            </a:r>
            <a:r>
              <a:rPr lang="en-US" altLang="ko-KR" sz="4800" b="1" spc="1240" dirty="0"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(2)</a:t>
            </a:r>
            <a:endParaRPr lang="ko-KR" altLang="en-US" sz="4800" b="1" dirty="0">
              <a:solidFill>
                <a:srgbClr val="004AAD"/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09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96200" y="4305300"/>
            <a:ext cx="10972800" cy="14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800" dirty="0"/>
              <a:t>시연</a:t>
            </a:r>
          </a:p>
        </p:txBody>
      </p:sp>
      <p:cxnSp>
        <p:nvCxnSpPr>
          <p:cNvPr id="3" name="도형 7">
            <a:extLst>
              <a:ext uri="{FF2B5EF4-FFF2-40B4-BE49-F238E27FC236}">
                <a16:creationId xmlns:a16="http://schemas.microsoft.com/office/drawing/2014/main" id="{D58E182E-26AD-4947-B06F-5CAAD335A461}"/>
              </a:ext>
            </a:extLst>
          </p:cNvPr>
          <p:cNvCxnSpPr>
            <a:cxnSpLocks/>
          </p:cNvCxnSpPr>
          <p:nvPr/>
        </p:nvCxnSpPr>
        <p:spPr>
          <a:xfrm flipV="1">
            <a:off x="914400" y="1368425"/>
            <a:ext cx="16459200" cy="67945"/>
          </a:xfrm>
          <a:prstGeom prst="line">
            <a:avLst/>
          </a:prstGeom>
          <a:ln w="28575" cap="flat" cmpd="sng">
            <a:solidFill>
              <a:srgbClr val="004AAD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77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/>
          </p:cNvSpPr>
          <p:nvPr/>
        </p:nvSpPr>
        <p:spPr>
          <a:xfrm>
            <a:off x="6017895" y="3131820"/>
            <a:ext cx="6247130" cy="3500120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l">
              <a:lnSpc>
                <a:spcPts val="27555"/>
              </a:lnSpc>
              <a:buFontTx/>
              <a:buNone/>
            </a:pPr>
            <a:r>
              <a:rPr lang="en-US" sz="19680" b="1" spc="690">
                <a:solidFill>
                  <a:srgbClr val="004AAD"/>
                </a:solidFill>
                <a:latin typeface="Gotham Bold" charset="0"/>
                <a:ea typeface="Gotham Bold" charset="0"/>
                <a:cs typeface="Gotham Bold" charset="0"/>
              </a:rPr>
              <a:t>Q&amp;A</a:t>
            </a:r>
            <a:endParaRPr lang="ko-KR" altLang="en-US" sz="19680" b="1">
              <a:solidFill>
                <a:srgbClr val="004AAD"/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Pages>17</Pages>
  <Words>411</Words>
  <Characters>0</Characters>
  <Application>Microsoft Office PowerPoint</Application>
  <DocSecurity>0</DocSecurity>
  <PresentationFormat>사용자 지정</PresentationFormat>
  <Lines>0</Lines>
  <Paragraphs>134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Gotham Bold</vt:lpstr>
      <vt:lpstr>Calibri</vt:lpstr>
      <vt:lpstr>윤고딕 Semi-Bold</vt:lpstr>
      <vt:lpstr>맑은 고딕</vt:lpstr>
      <vt:lpstr>inherit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깔끔하고 미니멀한 면접 발표 디자인 크리에이티브 포트폴리오 프레젠테이션</dc:title>
  <dc:creator>Administrator</dc:creator>
  <cp:lastModifiedBy>Windows 사용자</cp:lastModifiedBy>
  <cp:revision>5</cp:revision>
  <dcterms:modified xsi:type="dcterms:W3CDTF">2024-11-04T12:31:42Z</dcterms:modified>
  <cp:version>10.105.234.53029</cp:version>
</cp:coreProperties>
</file>